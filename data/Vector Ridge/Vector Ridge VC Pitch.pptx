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  <p:embeddedFont>
      <p:font typeface="Azeret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ADFF51-95FD-4F38-AEB1-B36197904E44}">
  <a:tblStyle styleId="{77ADFF51-95FD-4F38-AEB1-B36197904E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8" Type="http://schemas.openxmlformats.org/officeDocument/2006/relationships/font" Target="fonts/AzeretMono-regular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zeret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zeretMono-boldItalic.fntdata"/><Relationship Id="rId30" Type="http://schemas.openxmlformats.org/officeDocument/2006/relationships/font" Target="fonts/Azeret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21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19450" y="1924198"/>
            <a:ext cx="57531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SERIES A INVESTMENT OPPORTUNITY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75622" y="2358479"/>
            <a:ext cx="604075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VECTOR RIDGE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19450" y="3303240"/>
            <a:ext cx="57531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Future of Engineered Regional Apparel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381625" y="4171801"/>
            <a:ext cx="142875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219450" y="4590901"/>
            <a:ext cx="575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Technical Precision Meets Texas Terrain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1852612" y="1603176"/>
            <a:ext cx="84867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THE VISION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640443" y="1999357"/>
            <a:ext cx="891111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TECHNICAL PRECISION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MEETS TEXAS TERRAIN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619750" y="4113907"/>
            <a:ext cx="952500" cy="47625"/>
          </a:xfrm>
          <a:prstGeom prst="rect">
            <a:avLst/>
          </a:prstGeom>
          <a:solidFill>
            <a:srgbClr val="4A6C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852612" y="4447282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Bridging 25 years of IT excellence with the rugged beauty of the Hill Country to redefine regional lifestyle gear.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57437"/>
            <a:ext cx="53340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357437"/>
            <a:ext cx="53340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MARKET OPPORTUNITY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4A6C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2747962"/>
            <a:ext cx="4552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THE PROBLEM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024187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CLICHÉ GAP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3538537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Regional apparel in Texas is saturated with generic tourist motifs and overused slogans. Existing brands lack the technical sophistication and premium quality required by the modern, affluent professional class.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677025" y="2747962"/>
            <a:ext cx="4552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THE SOLUTION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77025" y="3024187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ENGINEERED APPAREL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77025" y="3538537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Vector Ridge offers "Technically Designed" clothing. We blend software-inspired precision, billiards-culture geometry, and high-end functional fabrics for a discerning audience in the Hill Country and beyond.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571500" y="1300162"/>
            <a:ext cx="4953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PRODUCT FOCUS I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1624012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TECHNICAL TEE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2586037"/>
            <a:ext cx="4953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Our flagship shirts utilize Soft-Hand screen printing and DTG technology to render complex topographic and blueprint designs. Targeted at the $32 retail point, these garments offer 75% gross margins with high-retention aesthetic appeal.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23900" y="44910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62000" y="4491037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Topographic Balcones Fault Series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23900" y="47958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4795837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Blueprint Billiards Technicals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23900" y="51006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62000" y="5100637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Binary Flora Collection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0497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67250"/>
            <a:ext cx="252412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6125" y="4667250"/>
            <a:ext cx="252412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PREMIUM OUTERWEAR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4A6C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2286000"/>
            <a:ext cx="523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PRODUCT FOCUS II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2562225"/>
            <a:ext cx="55006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HORIZON HOODIE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3162300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Engineered with 400gsm heavyweight fleece and high-density 3D embroidery. This line is designed for the software peer group—subtle, tonal branding that functions in both a professional office and the Austin night air.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714500"/>
            <a:ext cx="52197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66900"/>
            <a:ext cx="34924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1866900"/>
            <a:ext cx="34925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1866900"/>
            <a:ext cx="34924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LIFESTYLE &amp; PERFORMANCE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4A6C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484189" y="4867275"/>
            <a:ext cx="36670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LAKE LIFE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5334000"/>
            <a:ext cx="349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Sublimated 5" trunks.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4262337" y="4867275"/>
            <a:ext cx="36671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RAIL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349650" y="5334000"/>
            <a:ext cx="34925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Casual cotton blends.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040640" y="4867275"/>
            <a:ext cx="36670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TOPO HIKE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127950" y="5334000"/>
            <a:ext cx="349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Ripstop 7" technicals.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876425"/>
            <a:ext cx="347335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59175" y="1876425"/>
            <a:ext cx="347349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37475" y="1876425"/>
            <a:ext cx="347335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09700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MARKET DOMINANCE STRATEGY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4A6C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48387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"Capturing the tech-centric, high-disposable income demographic of Central Texas."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PROVEN TRACTION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4A6C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2905125"/>
            <a:ext cx="4419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64%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4429125"/>
            <a:ext cx="4419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Repeat Customer Rate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562600" y="2719387"/>
            <a:ext cx="636079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EFFICIENCY IN SCALE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562600" y="3271837"/>
            <a:ext cx="6057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Our "Seed" phase utilized DTC (Direct-to-Consumer) and local Austin markets to validate designs. The result is a hyper-loyal community that prioritizes the "Technical &amp; Terrain" aesthetic over generic alternatives.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562600" y="4471987"/>
            <a:ext cx="7143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$12.40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6657975" y="4471987"/>
            <a:ext cx="8953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LTV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$185.00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18122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FOUNDER &amp; VISIONARY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4A6C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2100" y="2219325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6381750" y="2133600"/>
            <a:ext cx="5500687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PRECISION SOFTWARE MEETS CREATIVE DESIGN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381750" y="3048000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Bringing **25 years of Software &amp; IT Leadership** to the apparel world. Our founder treats product development like a software sprint: rapid prototyping, data-driven design, and absolute precision in execution.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381750" y="44577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lifelong resident of Cedar Park and Hill Country enthusiast, blending passion for hiking, travel, and competitive billiards into a unique brand identity.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24-MONTH ROADMAP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4A6C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571500" y="3273772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1672530" y="4210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571500" y="3330922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Q1 2026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10733" y="395570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AUSTIN ALPHA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4365277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Launch flaghip Cedar Park/ATX retail partner presence.</a:t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4545210" y="4210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3444180" y="3330922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Q3 2026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3383413" y="395570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GULF PUSH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3444180" y="436527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Expansion into Gulf Coast &amp; Houston markets.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7417891" y="4210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6316860" y="3330922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Q1 2027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256094" y="395570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TECH HUB SCALE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316860" y="436527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Custom corporate line for major TX tech firms.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0290571" y="42100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9189541" y="3330922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Q4 2027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9128774" y="395570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GLOBAL RIDGE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9189541" y="4365277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International e-comm shipping &amp; global travel series.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INVESTMENT SUMMARY</a:t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4A6C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2002184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SEEKING $1.5M SEED ROUND</a:t>
            </a:r>
            <a:endParaRPr/>
          </a:p>
        </p:txBody>
      </p:sp>
      <p:graphicFrame>
        <p:nvGraphicFramePr>
          <p:cNvPr id="218" name="Google Shape;218;p23"/>
          <p:cNvGraphicFramePr/>
          <p:nvPr/>
        </p:nvGraphicFramePr>
        <p:xfrm>
          <a:off x="571500" y="25888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{77ADFF51-95FD-4F38-AEB1-B36197904E44}</a:tableStyleId>
              </a:tblPr>
              <a:tblGrid>
                <a:gridCol w="3122275"/>
                <a:gridCol w="2323500"/>
                <a:gridCol w="5603225"/>
              </a:tblGrid>
              <a:tr h="65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 of Funds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Allocation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Primary Objective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5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Inventory &amp; Production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Scale to 10k units/month capacity.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5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Marketing &amp; Growth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DTC Performance ads &amp; Influencer network.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5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Talent Acquisition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In-house design &amp; ops team.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5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R&amp;D (Smart Fabrics)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Developing tech-integrated garments.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9" name="Google Shape;219;p23"/>
          <p:cNvSpPr/>
          <p:nvPr/>
        </p:nvSpPr>
        <p:spPr>
          <a:xfrm>
            <a:off x="571500" y="3241327"/>
            <a:ext cx="312226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3693765" y="3241327"/>
            <a:ext cx="232350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6017269" y="3241327"/>
            <a:ext cx="56032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71500" y="3889027"/>
            <a:ext cx="312226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693765" y="3889027"/>
            <a:ext cx="232350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6017269" y="3889027"/>
            <a:ext cx="56032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71500" y="4536727"/>
            <a:ext cx="312226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3693765" y="4536727"/>
            <a:ext cx="232350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6017269" y="4536727"/>
            <a:ext cx="56032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71500" y="5184427"/>
            <a:ext cx="312226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3693765" y="5184427"/>
            <a:ext cx="232350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017269" y="5184427"/>
            <a:ext cx="56032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71500" y="5832127"/>
            <a:ext cx="312226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693765" y="5832127"/>
            <a:ext cx="232350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6017269" y="5832127"/>
            <a:ext cx="56032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1630441" y="1809750"/>
            <a:ext cx="89311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READY FOR THE RIDGE?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1843087" y="2952750"/>
            <a:ext cx="85058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Join us in engineering the next icon of Texas apparel.</a:t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5619750" y="369942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1843087" y="4118520"/>
            <a:ext cx="8505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INVEST@VECTORRIDGE.COM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1843087" y="4552801"/>
            <a:ext cx="8505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AUSTIN | CEDAR PARK | HILL COUNTRY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4A6C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149855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228332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306809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38528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463763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227379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227379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058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3058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3843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3843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46281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46281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54128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54128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479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666875" y="164142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https://assets.thenorthface.eu/images/t_img/f_auto,h_462,e_sharpen:60,w_462/dpr_2.0/v1722850907/NF0A89DR1I4-ALT1/Mens-LongSleeve-Topographic-TShirt.jpg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666875" y="188714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www.thenorthface.com</a:t>
            </a:r>
            <a:endParaRPr/>
          </a:p>
        </p:txBody>
      </p:sp>
      <p:pic>
        <p:nvPicPr>
          <p:cNvPr descr="image.png" id="268" name="Google Shape;2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27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66875" y="242619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https://kinapparel.org/cdn/shop/files/13_14_7822fbdb-d373-44fc-9a93-b179f9ba874f.png?v=1765039101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66875" y="267191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kinapparel.org</a:t>
            </a:r>
            <a:endParaRPr/>
          </a:p>
        </p:txBody>
      </p:sp>
      <p:pic>
        <p:nvPicPr>
          <p:cNvPr descr="image.png" id="271" name="Google Shape;27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175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32109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https://urbanoasiscontracting.com/wp-content/uploads/2025/08/austin-farmers-market-stalls-198.webp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34566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urbanoasiscontracting.com</a:t>
            </a:r>
            <a:endParaRPr/>
          </a:p>
        </p:txBody>
      </p:sp>
      <p:pic>
        <p:nvPicPr>
          <p:cNvPr descr="image.png" id="274" name="Google Shape;27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022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66875" y="39957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https://dxt1dc7xo1tv8.cloudfront.net/2023/03/0000_DSC08622.jpg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66875" y="42414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www.sawyertwain.com</a:t>
            </a:r>
            <a:endParaRPr/>
          </a:p>
        </p:txBody>
      </p:sp>
      <p:pic>
        <p:nvPicPr>
          <p:cNvPr descr="image.png" id="277" name="Google Shape;27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870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666875" y="47805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https://thegoldenhouradventurer.com/wp-content/uploads/2019/04/Lost-Maples5a.jpg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666875" y="50262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thegoldenhouradventurer.com</a:t>
            </a:r>
            <a:endParaRPr/>
          </a:p>
        </p:txBody>
      </p:sp>
      <p:pic>
        <p:nvPicPr>
          <p:cNvPr descr="image.png" id="280" name="Google Shape;28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5718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666875" y="556527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https://images.scalebranding.com/0144dcd2-02d8-48fc-89e6-9e8c6bd8b160.png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66875" y="58109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scalebranding.com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